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1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658368"/>
            <a:ext cx="1828800" cy="73152"/>
          </a:xfrm>
          <a:prstGeom prst="rect">
            <a:avLst/>
          </a:prstGeom>
          <a:solidFill>
            <a:srgbClr val="D2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Predictive modeling of customer bookings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10972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Nina Nguyen</a:t>
            </a:r>
          </a:p>
          <a:p>
            <a:pPr algn="r">
              <a:defRPr sz="900">
                <a:solidFill>
                  <a:srgbClr val="D7E1EE"/>
                </a:solidFill>
              </a:defRPr>
            </a:pPr>
            <a:r>
              <a:t>nguyenbillie25@gmail.com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412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630"/>
                </a:solidFill>
              </a:defRPr>
            </a:pPr>
            <a:r>
              <a:t>Random Forest model identifies useful booking signals, but completed-booking detection remains the key improvement area.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353312"/>
            <a:ext cx="1444752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1444752"/>
            <a:ext cx="1298448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31F43"/>
                </a:solidFill>
              </a:defRPr>
            </a:pPr>
            <a:r>
              <a:t>0.793</a:t>
            </a:r>
          </a:p>
          <a:p>
            <a:pPr algn="ctr">
              <a:defRPr sz="850">
                <a:solidFill>
                  <a:srgbClr val="5E6978"/>
                </a:solidFill>
              </a:defRPr>
            </a:pPr>
            <a:r>
              <a:t>Test ROC-AUC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66543" y="1353312"/>
            <a:ext cx="1444752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39695" y="1444752"/>
            <a:ext cx="1298448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31F43"/>
                </a:solidFill>
              </a:defRPr>
            </a:pPr>
            <a:r>
              <a:t>0.786</a:t>
            </a:r>
          </a:p>
          <a:p>
            <a:pPr algn="ctr">
              <a:defRPr sz="850">
                <a:solidFill>
                  <a:srgbClr val="5E6978"/>
                </a:solidFill>
              </a:defRPr>
            </a:pPr>
            <a:r>
              <a:t>5-fold CV ROC-AUC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4176" y="1353312"/>
            <a:ext cx="1444752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7328" y="1444752"/>
            <a:ext cx="1298448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31F43"/>
                </a:solidFill>
              </a:defRPr>
            </a:pPr>
            <a:r>
              <a:t>42%</a:t>
            </a:r>
          </a:p>
          <a:p>
            <a:pPr algn="ctr">
              <a:defRPr sz="850">
                <a:solidFill>
                  <a:srgbClr val="5E6978"/>
                </a:solidFill>
              </a:defRPr>
            </a:pPr>
            <a:r>
              <a:t>Precision — 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8" y="1353312"/>
            <a:ext cx="1444752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1444752"/>
            <a:ext cx="1298448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31F43"/>
                </a:solidFill>
              </a:defRPr>
            </a:pPr>
            <a:r>
              <a:t>38%</a:t>
            </a:r>
          </a:p>
          <a:p>
            <a:pPr algn="ctr">
              <a:defRPr sz="850">
                <a:solidFill>
                  <a:srgbClr val="5E6978"/>
                </a:solidFill>
              </a:defRPr>
            </a:pPr>
            <a:r>
              <a:t>Recall — completed</a:t>
            </a:r>
          </a:p>
        </p:txBody>
      </p:sp>
      <p:pic>
        <p:nvPicPr>
          <p:cNvPr id="15" name="Picture 14" descr="feature_importance_tas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31720"/>
            <a:ext cx="6812280" cy="35040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24927" y="1353312"/>
            <a:ext cx="4315968" cy="491947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9248" y="1600200"/>
            <a:ext cx="37673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31F43"/>
                </a:solidFill>
              </a:defRPr>
            </a:pPr>
            <a:r>
              <a:t>Key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1947672"/>
            <a:ext cx="3703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1E2630"/>
                </a:solidFill>
              </a:defRPr>
            </a:pPr>
            <a:r>
              <a:t>• Purchase lead, length of stay and flight hour are the strongest model predictors.</a:t>
            </a:r>
          </a:p>
          <a:p>
            <a:pPr>
              <a:spcAft>
                <a:spcPts val="500"/>
              </a:spcAft>
              <a:defRPr sz="1050">
                <a:solidFill>
                  <a:srgbClr val="1E2630"/>
                </a:solidFill>
              </a:defRPr>
            </a:pPr>
            <a:r>
              <a:t>• Booking origin also contributes materially; Australia and Malaysia appear among the top signals.</a:t>
            </a:r>
          </a:p>
          <a:p>
            <a:pPr>
              <a:spcAft>
                <a:spcPts val="500"/>
              </a:spcAft>
              <a:defRPr sz="1050">
                <a:solidFill>
                  <a:srgbClr val="1E2630"/>
                </a:solidFill>
              </a:defRPr>
            </a:pPr>
            <a:r>
              <a:t>• Ancillary preferences (meals, baggage, seat) add smaller predictive value.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7244" y="3218688"/>
            <a:ext cx="37673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31F43"/>
                </a:solidFill>
              </a:defRPr>
            </a:pPr>
            <a:r>
              <a:t>Model 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3566160"/>
            <a:ext cx="3703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1E2630"/>
                </a:solidFill>
              </a:defRPr>
            </a:pPr>
            <a:r>
              <a:rPr dirty="0"/>
              <a:t>• Cross-validation is highly consistent across shuffled stratified folds (mean ROC-AUC 0.786).</a:t>
            </a:r>
          </a:p>
          <a:p>
            <a:pPr>
              <a:spcAft>
                <a:spcPts val="500"/>
              </a:spcAft>
              <a:defRPr sz="1050">
                <a:solidFill>
                  <a:srgbClr val="1E2630"/>
                </a:solidFill>
              </a:defRPr>
            </a:pPr>
            <a:r>
              <a:rPr dirty="0"/>
              <a:t>• Accuracy alone is misleading because only ~15% of test bookings are completed.</a:t>
            </a:r>
          </a:p>
          <a:p>
            <a:pPr>
              <a:spcAft>
                <a:spcPts val="500"/>
              </a:spcAft>
              <a:defRPr sz="1050">
                <a:solidFill>
                  <a:srgbClr val="1E2630"/>
                </a:solidFill>
              </a:defRPr>
            </a:pPr>
            <a:r>
              <a:rPr dirty="0"/>
              <a:t>• Feature importance indicates predictive contribution, not causal impact.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837176"/>
            <a:ext cx="37673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7855"/>
                </a:solidFill>
              </a:defRPr>
            </a:pPr>
            <a:r>
              <a:rPr dirty="0"/>
              <a:t>Business 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5228440"/>
            <a:ext cx="3703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1E2630"/>
                </a:solidFill>
              </a:defRPr>
            </a:pPr>
            <a:r>
              <a:rPr dirty="0"/>
              <a:t>• Use the model as a targeting/ranking signal rather than an automated decision rule.</a:t>
            </a:r>
          </a:p>
          <a:p>
            <a:pPr>
              <a:spcAft>
                <a:spcPts val="500"/>
              </a:spcAft>
              <a:defRPr sz="1050">
                <a:solidFill>
                  <a:srgbClr val="1E2630"/>
                </a:solidFill>
              </a:defRPr>
            </a:pPr>
            <a:r>
              <a:rPr dirty="0"/>
              <a:t>• Improve minority-class recall through threshold tuning, class-balancing experiments and further validation before deployment.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E6978"/>
                </a:solidFill>
              </a:defRPr>
            </a:pPr>
            <a:r>
              <a:t>Dataset: 50,000 customer booking records | Model: RandomForestClassifier | Target: booking_complete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GIANG NGUYEN DO NINH</cp:lastModifiedBy>
  <cp:revision>2</cp:revision>
  <dcterms:created xsi:type="dcterms:W3CDTF">2013-01-27T09:14:16Z</dcterms:created>
  <dcterms:modified xsi:type="dcterms:W3CDTF">2026-08-24T12:00:28Z</dcterms:modified>
  <cp:category/>
</cp:coreProperties>
</file>